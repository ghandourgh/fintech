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194560" cy="411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846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 IN FINTECH  |  PROJECT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Portfolio Optimisation &amp;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Interest Rate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E6B33E"/>
                </a:solidFill>
                <a:latin typeface="Calibri"/>
              </a:rPr>
              <a:t>A Credit Scoring Model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548640" cy="457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B33E"/>
                </a:solidFill>
                <a:latin typeface="Calibri"/>
              </a:rPr>
              <a:t>TEAM MEMBERS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3611880" cy="502920"/>
          </a:xfrm>
          <a:prstGeom prst="rect">
            <a:avLst/>
          </a:prstGeom>
          <a:solidFill>
            <a:srgbClr val="142A4A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73152" cy="5029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5020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Mhamad Naser Dine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840480"/>
            <a:ext cx="3611880" cy="502920"/>
          </a:xfrm>
          <a:prstGeom prst="rect">
            <a:avLst/>
          </a:prstGeom>
          <a:solidFill>
            <a:srgbClr val="142A4A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3840480"/>
            <a:ext cx="73152" cy="5029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95020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Ali Srour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3840480"/>
            <a:ext cx="3611880" cy="502920"/>
          </a:xfrm>
          <a:prstGeom prst="rect">
            <a:avLst/>
          </a:prstGeom>
          <a:solidFill>
            <a:srgbClr val="142A4A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3840480"/>
            <a:ext cx="73152" cy="5029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95020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Marwa Zeineddine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80560"/>
            <a:ext cx="3611880" cy="502920"/>
          </a:xfrm>
          <a:prstGeom prst="rect">
            <a:avLst/>
          </a:prstGeom>
          <a:solidFill>
            <a:srgbClr val="142A4A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73152" cy="5029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902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Maroun Mashaalany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480560"/>
            <a:ext cx="3611880" cy="502920"/>
          </a:xfrm>
          <a:prstGeom prst="rect">
            <a:avLst/>
          </a:prstGeom>
          <a:solidFill>
            <a:srgbClr val="142A4A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4480560"/>
            <a:ext cx="73152" cy="5029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5902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Lyn Khalil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0" y="4480560"/>
            <a:ext cx="3611880" cy="502920"/>
          </a:xfrm>
          <a:prstGeom prst="rect">
            <a:avLst/>
          </a:prstGeom>
          <a:solidFill>
            <a:srgbClr val="142A4A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80" y="4480560"/>
            <a:ext cx="73152" cy="5029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45902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Ghandour Ghandour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852160"/>
            <a:ext cx="11247120" cy="365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9893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Course: AI in FinTech   |   Academic Year 2025 /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B33E"/>
                </a:solidFill>
                <a:latin typeface="Calibri"/>
              </a:rPr>
              <a:t>Software: MATLAB Credit Scorecard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02  | 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Business Problem &amp; Project 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F77"/>
                </a:solidFill>
                <a:latin typeface="Calibri"/>
              </a:rPr>
              <a:t>The bank has to decide who gets a loan, and at what rate. We replace gut feel with a data-driven scorecard.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37033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3703320" cy="164592"/>
          </a:xfrm>
          <a:prstGeom prst="rect">
            <a:avLst/>
          </a:prstGeom>
          <a:solidFill>
            <a:srgbClr val="D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03A3A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F2E"/>
                </a:solidFill>
                <a:latin typeface="Calibri"/>
              </a:rPr>
              <a:t>If the bank accepts everyone, defaults destroy profit. If it rejects too many, it loses business.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057400"/>
            <a:ext cx="37033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057400"/>
            <a:ext cx="3703320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3500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Calibri"/>
              </a:rPr>
              <a:t>THE 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834640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F2E"/>
                </a:solidFill>
                <a:latin typeface="Calibri"/>
              </a:rPr>
              <a:t>Build a scoring model that ranks clients, decides accept/reject, and prices the minimum interest rate.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057400"/>
            <a:ext cx="37033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057400"/>
            <a:ext cx="3703320" cy="164592"/>
          </a:xfrm>
          <a:prstGeom prst="rect">
            <a:avLst/>
          </a:prstGeom>
          <a:solidFill>
            <a:srgbClr val="1F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3500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6B"/>
                </a:solidFill>
                <a:latin typeface="Calibri"/>
              </a:rPr>
              <a:t>THE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834640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F2E"/>
                </a:solidFill>
                <a:latin typeface="Calibri"/>
              </a:rPr>
              <a:t>Score 0–100, probability of default, decision, expected loss and break-even rate per client.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26280"/>
            <a:ext cx="1124712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663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B33E"/>
                </a:solidFill>
                <a:latin typeface="Calibri"/>
              </a:rPr>
              <a:t>DECISION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37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Accept if Score ≥ 48.2032   →   else Reject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440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9D3E6"/>
                </a:solidFill>
                <a:latin typeface="Calibri"/>
              </a:rPr>
              <a:t>Cutoff chosen by the Kolmogorov–Smirnov statistic on the historical sample.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 in FinTech  |  Portfolio Optimisation &amp; Interest Rate Pricing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6556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03  | 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Dataset &amp; 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F77"/>
                </a:solidFill>
                <a:latin typeface="Calibri"/>
              </a:rPr>
              <a:t>Source file: DataProjScoreCard.xlsx — two sheets, four predictors, one binary target.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55321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532120" cy="411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30552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HistoricalData  —  trains &amp; validates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0B1F3A"/>
                </a:solidFill>
                <a:latin typeface="Calibri"/>
              </a:rPr>
              <a:t>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past clients with known Default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F77"/>
                </a:solidFill>
                <a:latin typeface="Calibri"/>
              </a:rPr>
              <a:t>320 good (64%)   •   180 bad (36%)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057400"/>
            <a:ext cx="55321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057400"/>
            <a:ext cx="5532120" cy="41148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130552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ActualPortfolioData  —  receives the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517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0B1F3A"/>
                </a:solidFill>
                <a:latin typeface="Calibri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new applicants — outcome unknown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F77"/>
                </a:solidFill>
                <a:latin typeface="Calibri"/>
              </a:rPr>
              <a:t>Each requests a loan of $100,000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FOUR PREDICTORS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00600"/>
            <a:ext cx="26974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00600"/>
            <a:ext cx="73152" cy="11887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57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Calibri"/>
              </a:rPr>
              <a:t>NUMERIC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321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F77"/>
                </a:solidFill>
                <a:latin typeface="Calibri"/>
              </a:rPr>
              <a:t>client age in years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4800600"/>
            <a:ext cx="26974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4800600"/>
            <a:ext cx="73152" cy="11887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49377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Income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257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Calibri"/>
              </a:rPr>
              <a:t>NUMERIC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5321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F77"/>
                </a:solidFill>
                <a:latin typeface="Calibri"/>
              </a:rPr>
              <a:t>annual income in $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800600"/>
            <a:ext cx="26974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4800600"/>
            <a:ext cx="73152" cy="11887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9377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Residential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257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Calibri"/>
              </a:rPr>
              <a:t>CATEGORICAL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5321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F77"/>
                </a:solidFill>
                <a:latin typeface="Calibri"/>
              </a:rPr>
              <a:t>renter / homeowner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4800600"/>
            <a:ext cx="26974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23960" y="4800600"/>
            <a:ext cx="73152" cy="11887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49377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Employment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257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Calibri"/>
              </a:rPr>
              <a:t>CATEGORICAL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55321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F77"/>
                </a:solidFill>
                <a:latin typeface="Calibri"/>
              </a:rPr>
              <a:t>employed / other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 in FinTech  |  Portfolio Optimisation &amp; Interest Rate Pricing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62895" y="6556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04  | 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Scorecard Workflow &amp;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F77"/>
                </a:solidFill>
                <a:latin typeface="Calibri"/>
              </a:rPr>
              <a:t>Five-step MATLAB pipeline turns raw client data into an interpretable 0–100 score.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2139696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B33E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21396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Binning</a:t>
            </a:r>
          </a:p>
        </p:txBody>
      </p:sp>
      <p:sp>
        <p:nvSpPr>
          <p:cNvPr id="11" name="Right Triangle 10"/>
          <p:cNvSpPr/>
          <p:nvPr/>
        </p:nvSpPr>
        <p:spPr>
          <a:xfrm rot="5400000">
            <a:off x="2578608" y="2359152"/>
            <a:ext cx="164592" cy="219456"/>
          </a:xfrm>
          <a:prstGeom prst="rtTriangle">
            <a:avLst/>
          </a:prstGeom>
          <a:solidFill>
            <a:srgbClr val="E6B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2616" y="2103120"/>
            <a:ext cx="2139696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2240280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B33E"/>
                </a:solidFill>
                <a:latin typeface="Calibr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2487168"/>
            <a:ext cx="21396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Weight of Evidence</a:t>
            </a:r>
          </a:p>
        </p:txBody>
      </p:sp>
      <p:sp>
        <p:nvSpPr>
          <p:cNvPr id="15" name="Right Triangle 14"/>
          <p:cNvSpPr/>
          <p:nvPr/>
        </p:nvSpPr>
        <p:spPr>
          <a:xfrm rot="5400000">
            <a:off x="4764024" y="2359152"/>
            <a:ext cx="164592" cy="219456"/>
          </a:xfrm>
          <a:prstGeom prst="rtTriangle">
            <a:avLst/>
          </a:prstGeom>
          <a:solidFill>
            <a:srgbClr val="E6B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28032" y="2103120"/>
            <a:ext cx="2139696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2240280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B33E"/>
                </a:solidFill>
                <a:latin typeface="Calibr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2487168"/>
            <a:ext cx="21396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19" name="Right Triangle 18"/>
          <p:cNvSpPr/>
          <p:nvPr/>
        </p:nvSpPr>
        <p:spPr>
          <a:xfrm rot="5400000">
            <a:off x="6949440" y="2359152"/>
            <a:ext cx="164592" cy="219456"/>
          </a:xfrm>
          <a:prstGeom prst="rtTriangle">
            <a:avLst/>
          </a:prstGeom>
          <a:solidFill>
            <a:srgbClr val="E6B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13448" y="2103120"/>
            <a:ext cx="2139696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8" y="2240280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B33E"/>
                </a:solidFill>
                <a:latin typeface="Calibri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2487168"/>
            <a:ext cx="21396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Score 0–100</a:t>
            </a:r>
          </a:p>
        </p:txBody>
      </p:sp>
      <p:sp>
        <p:nvSpPr>
          <p:cNvPr id="23" name="Right Triangle 22"/>
          <p:cNvSpPr/>
          <p:nvPr/>
        </p:nvSpPr>
        <p:spPr>
          <a:xfrm rot="5400000">
            <a:off x="9134856" y="2359152"/>
            <a:ext cx="164592" cy="219456"/>
          </a:xfrm>
          <a:prstGeom prst="rtTriangle">
            <a:avLst/>
          </a:prstGeom>
          <a:solidFill>
            <a:srgbClr val="E6B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4" y="2103120"/>
            <a:ext cx="2139696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8864" y="2240280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B33E"/>
                </a:solidFill>
                <a:latin typeface="Calibri"/>
              </a:rP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2487168"/>
            <a:ext cx="21396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ROC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5852160" cy="288036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2918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PREDICTOR STRENGTH (Information Value)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79476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Calibri"/>
              </a:rPr>
              <a:t>Income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867912"/>
            <a:ext cx="2834640" cy="201168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0" y="3867912"/>
            <a:ext cx="2834640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37947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0.2355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2976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Calibri"/>
              </a:rPr>
              <a:t>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370832"/>
            <a:ext cx="2834640" cy="201168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77440" y="4370832"/>
            <a:ext cx="2261693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57800" y="42976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0.1879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8006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Calibri"/>
              </a:rPr>
              <a:t>Employment 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4873752"/>
            <a:ext cx="2834640" cy="201168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77440" y="4873752"/>
            <a:ext cx="1375793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57800" y="48006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0.1143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3035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Calibri"/>
              </a:rPr>
              <a:t>Residential Status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5376672"/>
            <a:ext cx="2834640" cy="201168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377440" y="5376672"/>
            <a:ext cx="501929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7800" y="53035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0.0417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3108960"/>
            <a:ext cx="5257800" cy="2880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329184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B33E"/>
                </a:solidFill>
                <a:latin typeface="Calibri"/>
              </a:rPr>
              <a:t>MODEL VALIDATION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3794760"/>
            <a:ext cx="4800600" cy="713232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39319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B33E"/>
                </a:solidFill>
                <a:latin typeface="Calibri"/>
              </a:rPr>
              <a:t>AUC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388620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0.6775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55480" y="399592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9D3E6"/>
                </a:solidFill>
                <a:latin typeface="Calibri"/>
              </a:rPr>
              <a:t>Area under ROC curve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4544568"/>
            <a:ext cx="4800600" cy="713232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0" y="468172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B33E"/>
                </a:solidFill>
                <a:latin typeface="Calibri"/>
              </a:rPr>
              <a:t>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463600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0.2892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55480" y="474573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9D3E6"/>
                </a:solidFill>
                <a:latin typeface="Calibri"/>
              </a:rPr>
              <a:t>Kolmogorov–Smirnov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5294376"/>
            <a:ext cx="4800600" cy="713232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0" y="54315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B33E"/>
                </a:solidFill>
                <a:latin typeface="Calibri"/>
              </a:rPr>
              <a:t>Cutoff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5385816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48.20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5480" y="5495544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9D3E6"/>
                </a:solidFill>
                <a:latin typeface="Calibri"/>
              </a:rPr>
              <a:t>Optimal score threshold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 in FinTech  |  Portfolio Optimisation &amp; Interest Rate Pricing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2895" y="6556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05  | 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Portfolio Accept / Reject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F77"/>
                </a:solidFill>
                <a:latin typeface="Calibri"/>
              </a:rPr>
              <a:t>Rule applied: Accept if Score ≥ 48.2032 — systematic, evidence-based, defensible.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26974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2697480" cy="109728"/>
          </a:xfrm>
          <a:prstGeom prst="rect">
            <a:avLst/>
          </a:prstGeom>
          <a:solidFill>
            <a:srgbClr val="1F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A86B"/>
                </a:solidFill>
                <a:latin typeface="Calibri"/>
              </a:rPr>
              <a:t>ACCEPTED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7296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77"/>
                </a:solidFill>
                <a:latin typeface="Calibri"/>
              </a:rPr>
              <a:t>out of 20 applicants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057400"/>
            <a:ext cx="26974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2057400"/>
            <a:ext cx="2697480" cy="109728"/>
          </a:xfrm>
          <a:prstGeom prst="rect">
            <a:avLst/>
          </a:prstGeom>
          <a:solidFill>
            <a:srgbClr val="D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3317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260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03A3A"/>
                </a:solidFill>
                <a:latin typeface="Calibri"/>
              </a:rPr>
              <a:t>REJECTED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17296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77"/>
                </a:solidFill>
                <a:latin typeface="Calibri"/>
              </a:rPr>
              <a:t>highest-risk profiles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057400"/>
            <a:ext cx="26974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057400"/>
            <a:ext cx="26974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3317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$1.4M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9260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17296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77"/>
                </a:solidFill>
                <a:latin typeface="Calibri"/>
              </a:rPr>
              <a:t>total accepted 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2057400"/>
            <a:ext cx="26974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3960" y="2057400"/>
            <a:ext cx="2697480" cy="109728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23317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23.09%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9260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B33E"/>
                </a:solidFill>
                <a:latin typeface="Calibri"/>
              </a:rPr>
              <a:t>AVG PD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17296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77"/>
                </a:solidFill>
                <a:latin typeface="Calibri"/>
              </a:rPr>
              <a:t>of accepted portfolio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49039"/>
            <a:ext cx="1124712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9319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RISK BAND DISTRIBUTION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389119"/>
            <a:ext cx="3352800" cy="14173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389119"/>
            <a:ext cx="73152" cy="1417320"/>
          </a:xfrm>
          <a:prstGeom prst="rect">
            <a:avLst/>
          </a:prstGeom>
          <a:solidFill>
            <a:srgbClr val="1F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98847"/>
            <a:ext cx="307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Low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800599"/>
            <a:ext cx="731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A86B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937759"/>
            <a:ext cx="225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77"/>
                </a:solidFill>
                <a:latin typeface="Calibri"/>
              </a:rPr>
              <a:t>clients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303519"/>
            <a:ext cx="307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A86B"/>
                </a:solidFill>
                <a:latin typeface="Calibri"/>
              </a:rPr>
              <a:t>Score &gt; 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532119"/>
            <a:ext cx="307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77"/>
                </a:solidFill>
                <a:latin typeface="Calibri"/>
              </a:rPr>
              <a:t>Clients 4, 5, 6, 7, 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5760" y="4389119"/>
            <a:ext cx="3352800" cy="14173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75760" y="4389119"/>
            <a:ext cx="73152" cy="14173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58640" y="4498847"/>
            <a:ext cx="307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Medium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58640" y="4800599"/>
            <a:ext cx="731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B33E"/>
                </a:solidFill>
                <a:latin typeface="Calibr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1600" y="4937759"/>
            <a:ext cx="225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77"/>
                </a:solidFill>
                <a:latin typeface="Calibri"/>
              </a:rPr>
              <a:t>clients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58640" y="5303519"/>
            <a:ext cx="307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B33E"/>
                </a:solidFill>
                <a:latin typeface="Calibri"/>
              </a:rPr>
              <a:t>50 ≤ Score ≤ 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58640" y="5532119"/>
            <a:ext cx="307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77"/>
                </a:solidFill>
                <a:latin typeface="Calibri"/>
              </a:rPr>
              <a:t>Mid-band accepted clients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65720" y="4389119"/>
            <a:ext cx="3352800" cy="14173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65720" y="4389119"/>
            <a:ext cx="73152" cy="1417320"/>
          </a:xfrm>
          <a:prstGeom prst="rect">
            <a:avLst/>
          </a:prstGeom>
          <a:solidFill>
            <a:srgbClr val="D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48600" y="4498847"/>
            <a:ext cx="307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High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48600" y="4800599"/>
            <a:ext cx="731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D03A3A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71560" y="4937759"/>
            <a:ext cx="225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77"/>
                </a:solidFill>
                <a:latin typeface="Calibri"/>
              </a:rPr>
              <a:t>clients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48600" y="5303519"/>
            <a:ext cx="307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03A3A"/>
                </a:solidFill>
                <a:latin typeface="Calibri"/>
              </a:rPr>
              <a:t>Score &lt; 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48600" y="5532119"/>
            <a:ext cx="307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77"/>
                </a:solidFill>
                <a:latin typeface="Calibri"/>
              </a:rPr>
              <a:t>All rejected applicants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 in FinTech  |  Portfolio Optimisation &amp; Interest Rate Pricing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62895" y="6556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06  |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Expected Loss, Pricing &amp; Wrap-up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548640" cy="457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B33E"/>
                </a:solidFill>
                <a:latin typeface="Calibri"/>
              </a:rPr>
              <a:t>EXPECTED LOSS &amp; MINIMUM BREAK-EVEN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EL = PD × LGD × EAD     |     rₘᵢₙ = PD × LGD     (LGD = 40%, EAD = $100,000)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73152" cy="1554480"/>
          </a:xfrm>
          <a:prstGeom prst="rect">
            <a:avLst/>
          </a:prstGeom>
          <a:solidFill>
            <a:srgbClr val="D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03A3A"/>
                </a:solidFill>
                <a:latin typeface="Calibri"/>
              </a:rPr>
              <a:t>TOTAL EXPECTED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$129,329.63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77"/>
                </a:solidFill>
                <a:latin typeface="Calibri"/>
              </a:rPr>
              <a:t>across 14 accepted loans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51460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2514600"/>
            <a:ext cx="73152" cy="1554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697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Calibri"/>
              </a:rPr>
              <a:t>AVG BREAK-EVEN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0175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9.24%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6576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77"/>
                </a:solidFill>
                <a:latin typeface="Calibri"/>
              </a:rPr>
              <a:t>credit-risk floor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51460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2514600"/>
            <a:ext cx="73152" cy="1554480"/>
          </a:xfrm>
          <a:prstGeom prst="rect">
            <a:avLst/>
          </a:prstGeom>
          <a:solidFill>
            <a:srgbClr val="1F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697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A86B"/>
                </a:solidFill>
                <a:latin typeface="Calibri"/>
              </a:rPr>
              <a:t>SAFEST CLIENT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0175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5.11%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6576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77"/>
                </a:solidFill>
                <a:latin typeface="Calibri"/>
              </a:rPr>
              <a:t>clients 4 &amp; 5 (PD 12.79%)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2514600"/>
            <a:ext cx="2697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23960" y="2514600"/>
            <a:ext cx="73152" cy="155448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2697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6B33E"/>
                </a:solidFill>
                <a:latin typeface="Calibri"/>
              </a:rPr>
              <a:t>RISKIEST ACCEPTED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0175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13.40%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6576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77"/>
                </a:solidFill>
                <a:latin typeface="Calibri"/>
              </a:rPr>
              <a:t>client 8 (PD 33.50%)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51960"/>
            <a:ext cx="713232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3484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Calibri"/>
              </a:rPr>
              <a:t>KEY TAKEAWAYS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80060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6FEB"/>
                </a:solidFill>
                <a:latin typeface="Calibri"/>
              </a:rPr>
              <a:t>●  </a:t>
            </a:r>
            <a:r>
              <a:rPr sz="1300">
                <a:solidFill>
                  <a:srgbClr val="1A1F2E"/>
                </a:solidFill>
                <a:latin typeface="Calibri"/>
              </a:rPr>
              <a:t>Score → PD → Decision → Expected Loss → Risk-based Price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6FEB"/>
                </a:solidFill>
                <a:latin typeface="Calibri"/>
              </a:rPr>
              <a:t>●  </a:t>
            </a:r>
            <a:r>
              <a:rPr sz="1300">
                <a:solidFill>
                  <a:srgbClr val="1A1F2E"/>
                </a:solidFill>
                <a:latin typeface="Calibri"/>
              </a:rPr>
              <a:t>Transparent, interpretable, regulator-friendly scorecard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6FEB"/>
                </a:solidFill>
                <a:latin typeface="Calibri"/>
              </a:rPr>
              <a:t>●  </a:t>
            </a:r>
            <a:r>
              <a:rPr sz="1300">
                <a:solidFill>
                  <a:srgbClr val="1A1F2E"/>
                </a:solidFill>
                <a:latin typeface="Calibri"/>
              </a:rPr>
              <a:t>Rate above 9.24% generates positive expected margin for the bank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4251960"/>
            <a:ext cx="3977639" cy="1737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4572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120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B33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5486400"/>
            <a:ext cx="457200" cy="45720"/>
          </a:xfrm>
          <a:prstGeom prst="rect">
            <a:avLst/>
          </a:prstGeom>
          <a:solidFill>
            <a:srgbClr val="E6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55778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9D3E6"/>
                </a:solidFill>
                <a:latin typeface="Calibri"/>
              </a:rPr>
              <a:t>AI in FinTech — Project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 in FinTech  |  Portfolio Optimisation &amp; Interest Rate Pricing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556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