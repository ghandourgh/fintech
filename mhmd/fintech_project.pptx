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743" y="18288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29800" y="0"/>
            <a:ext cx="23591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800600" cy="6858000"/>
          </a:xfrm>
          <a:prstGeom prst="rect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800600" y="0"/>
            <a:ext cx="155448" cy="6858000"/>
          </a:xfrm>
          <a:prstGeom prst="rect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548640"/>
            <a:ext cx="3566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B4DAE8"/>
                </a:solidFill>
                <a:latin typeface="Aptos"/>
              </a:rPr>
              <a:t>AI IN FINTECH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43000"/>
            <a:ext cx="3886200" cy="2148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 Display"/>
              </a:rPr>
              <a:t>Portfolio Optimisation and Interest Rate Pricing Using a Scoring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86200"/>
            <a:ext cx="3657600" cy="56692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700" b="0">
                <a:solidFill>
                  <a:srgbClr val="E1EFF7"/>
                </a:solidFill>
                <a:latin typeface="Aptos"/>
              </a:rPr>
              <a:t>Scorecard-Based Credit Decision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777240"/>
            <a:ext cx="566928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3291AF"/>
                </a:solidFill>
                <a:latin typeface="Aptos"/>
              </a:rPr>
              <a:t>Presented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1298448"/>
            <a:ext cx="5303520" cy="21488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0">
                <a:solidFill>
                  <a:srgbClr val="1E293B"/>
                </a:solidFill>
                <a:latin typeface="Aptos"/>
              </a:rPr>
              <a:t>Mhamad Naser Dine</a:t>
            </a:r>
            <a:br/>
            <a:r>
              <a:t>Ali Srour</a:t>
            </a:r>
            <a:br/>
            <a:r>
              <a:t>Maroun Mashaalany</a:t>
            </a:r>
            <a:br/>
            <a:r>
              <a:t>Lyn Khalil</a:t>
            </a:r>
            <a:br/>
            <a:r>
              <a:t>Ghandour Ghandour</a:t>
            </a:r>
            <a:br/>
            <a:r>
              <a:t>Marwa Zeineddine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977639"/>
            <a:ext cx="530352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1">
                <a:solidFill>
                  <a:srgbClr val="3291AF"/>
                </a:solidFill>
                <a:latin typeface="Aptos"/>
              </a:rPr>
              <a:t>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370832"/>
            <a:ext cx="530352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100" b="1">
                <a:solidFill>
                  <a:srgbClr val="16305A"/>
                </a:solidFill>
                <a:latin typeface="Aptos"/>
              </a:rPr>
              <a:t>AI in FinTech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94960" y="534924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5394960" y="5349240"/>
            <a:ext cx="73152" cy="749808"/>
          </a:xfrm>
          <a:prstGeom prst="rect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96128" y="5513831"/>
            <a:ext cx="1417319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305A"/>
                </a:solidFill>
                <a:latin typeface="Aptos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5897879"/>
            <a:ext cx="1417319" cy="640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Scorecard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534924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0" y="5349240"/>
            <a:ext cx="73152" cy="749808"/>
          </a:xfrm>
          <a:prstGeom prst="rect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5513831"/>
            <a:ext cx="1417319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305A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5897879"/>
            <a:ext cx="1417319" cy="640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 dirty="0">
                <a:solidFill>
                  <a:srgbClr val="1E293B"/>
                </a:solidFill>
                <a:latin typeface="Aptos"/>
              </a:rPr>
              <a:t>PD + Interest 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5349240"/>
            <a:ext cx="17373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18320" y="5349240"/>
            <a:ext cx="73152" cy="749808"/>
          </a:xfrm>
          <a:prstGeom prst="rect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19488" y="5513831"/>
            <a:ext cx="1417319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305A"/>
                </a:solidFill>
                <a:latin typeface="Aptos"/>
              </a:rPr>
              <a:t>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5897879"/>
            <a:ext cx="1417319" cy="64007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5760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5C6773"/>
                </a:solidFill>
                <a:latin typeface="Aptos"/>
              </a:rPr>
              <a:t>AI in FinTech | Scorecard-Based Portfolio Optimisation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5C6773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29800" y="0"/>
            <a:ext cx="23591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3291AF"/>
                </a:solidFill>
                <a:latin typeface="Aptos"/>
              </a:rPr>
              <a:t>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24128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16305A"/>
                </a:solidFill>
                <a:latin typeface="Aptos Display"/>
              </a:rPr>
              <a:t>What decision does the bank need to make?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417320" cy="64008"/>
          </a:xfrm>
          <a:prstGeom prst="rect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29968" y="1536192"/>
            <a:ext cx="685800" cy="64008"/>
          </a:xfrm>
          <a:prstGeom prst="rect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965960"/>
            <a:ext cx="347472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965960"/>
            <a:ext cx="73152" cy="2697480"/>
          </a:xfrm>
          <a:prstGeom prst="rect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130552"/>
            <a:ext cx="3154679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305A"/>
                </a:solidFill>
                <a:latin typeface="Aptos"/>
              </a:rPr>
              <a:t>Banking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14600"/>
            <a:ext cx="3154679" cy="2011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The bank receives loan applications from current portfolio clients. It must decide who should be accepted and what minimum interest rate should be charged to compensate for credit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965960"/>
            <a:ext cx="347472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965960"/>
            <a:ext cx="73152" cy="2697480"/>
          </a:xfrm>
          <a:prstGeom prst="rect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2130552"/>
            <a:ext cx="3154679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305A"/>
                </a:solidFill>
                <a:latin typeface="Aptos"/>
              </a:rPr>
              <a:t>Project 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514600"/>
            <a:ext cx="3154679" cy="2011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Build a scorecard model using historical client data, estimate default risk for each current client, select the optimal portfolio, and assign risk-based interest rates.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965960"/>
            <a:ext cx="297180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965960"/>
            <a:ext cx="73152" cy="2697480"/>
          </a:xfrm>
          <a:prstGeom prst="rect">
            <a:avLst/>
          </a:prstGeom>
          <a:solidFill>
            <a:srgbClr val="2A805D"/>
          </a:solidFill>
          <a:ln>
            <a:solidFill>
              <a:srgbClr val="2A8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2130552"/>
            <a:ext cx="26517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305A"/>
                </a:solidFill>
                <a:latin typeface="Aptos"/>
              </a:rPr>
              <a:t>Business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514600"/>
            <a:ext cx="2651760" cy="2011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Accepted/rejected clients</a:t>
            </a:r>
            <a:br/>
            <a:r>
              <a:t>Probability of default</a:t>
            </a:r>
            <a:br/>
            <a:r>
              <a:t>Expected loss</a:t>
            </a:r>
            <a:br/>
            <a:r>
              <a:t>Minimum interest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996696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700" b="1">
                <a:solidFill>
                  <a:srgbClr val="16305A"/>
                </a:solidFill>
                <a:latin typeface="Aptos"/>
              </a:rPr>
              <a:t>Key idea: the model transforms client characteristics into a score, then uses that score to support credit decisions.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46520"/>
            <a:ext cx="5760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5C6773"/>
                </a:solidFill>
                <a:latin typeface="Aptos"/>
              </a:rPr>
              <a:t>AI in FinTech | Scorecard-Based Portfolio Optimisation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5C6773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29800" y="0"/>
            <a:ext cx="23591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3291AF"/>
                </a:solidFill>
                <a:latin typeface="Aptos"/>
              </a:rPr>
              <a:t>DATASET AND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24128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16305A"/>
                </a:solidFill>
                <a:latin typeface="Aptos Display"/>
              </a:rPr>
              <a:t>How the data is used in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417320" cy="64008"/>
          </a:xfrm>
          <a:prstGeom prst="rect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29968" y="1536192"/>
            <a:ext cx="685800" cy="64008"/>
          </a:xfrm>
          <a:prstGeom prst="rect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4937760" cy="3520440"/>
          </a:xfrm>
          <a:prstGeom prst="roundRect">
            <a:avLst/>
          </a:prstGeom>
          <a:solidFill>
            <a:srgbClr val="F2F7FC"/>
          </a:solidFill>
          <a:ln>
            <a:solidFill>
              <a:srgbClr val="DA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6520" y="1828800"/>
            <a:ext cx="4937760" cy="3520440"/>
          </a:xfrm>
          <a:prstGeom prst="roundRect">
            <a:avLst/>
          </a:prstGeom>
          <a:solidFill>
            <a:srgbClr val="F0F9FA"/>
          </a:solidFill>
          <a:ln>
            <a:solidFill>
              <a:srgbClr val="CE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057400"/>
            <a:ext cx="42976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16305A"/>
                </a:solidFill>
                <a:latin typeface="Aptos"/>
              </a:rPr>
              <a:t>HistoricalData Sheet</a:t>
            </a:r>
          </a:p>
        </p:txBody>
      </p:sp>
      <p:sp>
        <p:nvSpPr>
          <p:cNvPr id="11" name="Oval 10"/>
          <p:cNvSpPr/>
          <p:nvPr/>
        </p:nvSpPr>
        <p:spPr>
          <a:xfrm>
            <a:off x="1051560" y="2779776"/>
            <a:ext cx="109728" cy="109728"/>
          </a:xfrm>
          <a:prstGeom prst="ellipse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2697480"/>
            <a:ext cx="416052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Aptos"/>
              </a:rPr>
              <a:t>500 historical bank clients</a:t>
            </a:r>
          </a:p>
        </p:txBody>
      </p:sp>
      <p:sp>
        <p:nvSpPr>
          <p:cNvPr id="13" name="Oval 12"/>
          <p:cNvSpPr/>
          <p:nvPr/>
        </p:nvSpPr>
        <p:spPr>
          <a:xfrm>
            <a:off x="1051560" y="3218688"/>
            <a:ext cx="109728" cy="109728"/>
          </a:xfrm>
          <a:prstGeom prst="ellipse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80160" y="3136392"/>
            <a:ext cx="416052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Aptos"/>
              </a:rPr>
              <a:t>Used to train the scorecard model</a:t>
            </a:r>
          </a:p>
        </p:txBody>
      </p:sp>
      <p:sp>
        <p:nvSpPr>
          <p:cNvPr id="15" name="Oval 14"/>
          <p:cNvSpPr/>
          <p:nvPr/>
        </p:nvSpPr>
        <p:spPr>
          <a:xfrm>
            <a:off x="1051560" y="3657600"/>
            <a:ext cx="109728" cy="109728"/>
          </a:xfrm>
          <a:prstGeom prst="ellipse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575304"/>
            <a:ext cx="416052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Aptos"/>
              </a:rPr>
              <a:t>Contains client characteristics and default status</a:t>
            </a:r>
          </a:p>
        </p:txBody>
      </p:sp>
      <p:sp>
        <p:nvSpPr>
          <p:cNvPr id="17" name="Oval 16"/>
          <p:cNvSpPr/>
          <p:nvPr/>
        </p:nvSpPr>
        <p:spPr>
          <a:xfrm>
            <a:off x="1051560" y="4096512"/>
            <a:ext cx="109728" cy="109728"/>
          </a:xfrm>
          <a:prstGeom prst="ellipse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4014216"/>
            <a:ext cx="416052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Aptos"/>
              </a:rPr>
              <a:t>Supports binning, WOE, logistic regression, and ROC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057400"/>
            <a:ext cx="42976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3291AF"/>
                </a:solidFill>
                <a:latin typeface="Aptos"/>
              </a:rPr>
              <a:t>ActualPortfolioData Sheet</a:t>
            </a:r>
          </a:p>
        </p:txBody>
      </p:sp>
      <p:sp>
        <p:nvSpPr>
          <p:cNvPr id="20" name="Oval 19"/>
          <p:cNvSpPr/>
          <p:nvPr/>
        </p:nvSpPr>
        <p:spPr>
          <a:xfrm>
            <a:off x="6720840" y="2779776"/>
            <a:ext cx="109728" cy="109728"/>
          </a:xfrm>
          <a:prstGeom prst="ellipse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2697480"/>
            <a:ext cx="416052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Aptos"/>
              </a:rPr>
              <a:t>20 current portfolio clients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3218688"/>
            <a:ext cx="109728" cy="109728"/>
          </a:xfrm>
          <a:prstGeom prst="ellipse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49440" y="3136392"/>
            <a:ext cx="416052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Aptos"/>
              </a:rPr>
              <a:t>Each client requests a loan of $100,000</a:t>
            </a:r>
          </a:p>
        </p:txBody>
      </p:sp>
      <p:sp>
        <p:nvSpPr>
          <p:cNvPr id="24" name="Oval 23"/>
          <p:cNvSpPr/>
          <p:nvPr/>
        </p:nvSpPr>
        <p:spPr>
          <a:xfrm>
            <a:off x="6720840" y="3657600"/>
            <a:ext cx="109728" cy="109728"/>
          </a:xfrm>
          <a:prstGeom prst="ellipse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9440" y="3575304"/>
            <a:ext cx="416052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Aptos"/>
              </a:rPr>
              <a:t>Used for scoring and portfolio selection</a:t>
            </a:r>
          </a:p>
        </p:txBody>
      </p:sp>
      <p:sp>
        <p:nvSpPr>
          <p:cNvPr id="26" name="Oval 25"/>
          <p:cNvSpPr/>
          <p:nvPr/>
        </p:nvSpPr>
        <p:spPr>
          <a:xfrm>
            <a:off x="6720840" y="4096512"/>
            <a:ext cx="109728" cy="109728"/>
          </a:xfrm>
          <a:prstGeom prst="ellipse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4014216"/>
            <a:ext cx="4160520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50" b="0">
                <a:solidFill>
                  <a:srgbClr val="1E293B"/>
                </a:solidFill>
                <a:latin typeface="Aptos"/>
              </a:rPr>
              <a:t>Outputs: score, PD, decision, expected loss, and interest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742432"/>
            <a:ext cx="102870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550" b="1">
                <a:solidFill>
                  <a:srgbClr val="1E293B"/>
                </a:solidFill>
                <a:latin typeface="Aptos"/>
              </a:rPr>
              <a:t>Assumption used in pricing: recovery rate = 60%, so loss given default = 40%.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46520"/>
            <a:ext cx="5760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5C6773"/>
                </a:solidFill>
                <a:latin typeface="Aptos"/>
              </a:rPr>
              <a:t>AI in FinTech | Scorecard-Based Portfolio Optimisation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5C6773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29800" y="0"/>
            <a:ext cx="23591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3291AF"/>
                </a:solidFill>
                <a:latin typeface="Aptos"/>
              </a:rPr>
              <a:t>METHOD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24128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16305A"/>
                </a:solidFill>
                <a:latin typeface="Aptos Display"/>
              </a:rPr>
              <a:t>From raw data to portfolio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417320" cy="64008"/>
          </a:xfrm>
          <a:prstGeom prst="rect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29968" y="1536192"/>
            <a:ext cx="685800" cy="64008"/>
          </a:xfrm>
          <a:prstGeom prst="rect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199339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313432"/>
            <a:ext cx="18105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305A"/>
                </a:solidFill>
                <a:latin typeface="Aptos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171907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Historical clients</a:t>
            </a:r>
            <a:br/>
            <a:r>
              <a:t>Current portfolio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42032" y="2542032"/>
            <a:ext cx="548640" cy="320040"/>
          </a:xfrm>
          <a:prstGeom prst="rightArrow">
            <a:avLst/>
          </a:prstGeom>
          <a:solidFill>
            <a:srgbClr val="CDD8E2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971800" y="2148840"/>
            <a:ext cx="199339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63240" y="2313432"/>
            <a:ext cx="18105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305A"/>
                </a:solidFill>
                <a:latin typeface="Aptos"/>
              </a:rPr>
              <a:t>Binning + WOE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51760"/>
            <a:ext cx="171907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Transform predictors</a:t>
            </a:r>
            <a:br/>
            <a:r>
              <a:t>into risk signals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19472" y="2542032"/>
            <a:ext cx="548640" cy="320040"/>
          </a:xfrm>
          <a:prstGeom prst="rightArrow">
            <a:avLst/>
          </a:prstGeom>
          <a:solidFill>
            <a:srgbClr val="CDD8E2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49240" y="2148840"/>
            <a:ext cx="199339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40680" y="2313432"/>
            <a:ext cx="18105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305A"/>
                </a:solidFill>
                <a:latin typeface="Aptos"/>
              </a:rPr>
              <a:t>Logistic Regression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651760"/>
            <a:ext cx="171907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Estimate default</a:t>
            </a:r>
            <a:br/>
            <a:r>
              <a:t>probability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296912" y="2542032"/>
            <a:ext cx="548640" cy="320040"/>
          </a:xfrm>
          <a:prstGeom prst="rightArrow">
            <a:avLst/>
          </a:prstGeom>
          <a:solidFill>
            <a:srgbClr val="CDD8E2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26680" y="2148840"/>
            <a:ext cx="199339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18120" y="2313432"/>
            <a:ext cx="18105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305A"/>
                </a:solidFill>
                <a:latin typeface="Aptos"/>
              </a:rPr>
              <a:t>Scorecard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651760"/>
            <a:ext cx="171907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Convert risk into</a:t>
            </a:r>
            <a:br/>
            <a:r>
              <a:t>a score from 0 to 100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74352" y="2542032"/>
            <a:ext cx="548640" cy="320040"/>
          </a:xfrm>
          <a:prstGeom prst="rightArrow">
            <a:avLst/>
          </a:prstGeom>
          <a:solidFill>
            <a:srgbClr val="CDD8E2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104120" y="2148840"/>
            <a:ext cx="1993392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95560" y="2313432"/>
            <a:ext cx="1810512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2A805D"/>
                </a:solidFill>
                <a:latin typeface="Aptos"/>
              </a:rPr>
              <a:t>Decision + Pricing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651760"/>
            <a:ext cx="1719072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50" b="0">
                <a:solidFill>
                  <a:srgbClr val="1E293B"/>
                </a:solidFill>
                <a:latin typeface="Aptos"/>
              </a:rPr>
              <a:t>Select clients</a:t>
            </a:r>
            <a:br/>
            <a:r>
              <a:t>and calculate rates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4160520"/>
            <a:ext cx="4800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5840" y="4160520"/>
            <a:ext cx="73152" cy="1280160"/>
          </a:xfrm>
          <a:prstGeom prst="rect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07008" y="4325112"/>
            <a:ext cx="448056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305A"/>
                </a:solidFill>
                <a:latin typeface="Aptos"/>
              </a:rPr>
              <a:t>MATLAB functions 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4709159"/>
            <a:ext cx="4480560" cy="59435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bininfo / plotbins → display WOE evidence</a:t>
            </a:r>
            <a:br/>
            <a:r>
              <a:t>fitmodel → fit logistic regression</a:t>
            </a:r>
            <a:br/>
            <a:r>
              <a:t>score → score actual portfolio clients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160520"/>
            <a:ext cx="4526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4160520"/>
            <a:ext cx="73152" cy="1280160"/>
          </a:xfrm>
          <a:prstGeom prst="rect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01968" y="4325112"/>
            <a:ext cx="42062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305A"/>
                </a:solidFill>
                <a:latin typeface="Aptos"/>
              </a:rPr>
              <a:t>Financial logic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4709159"/>
            <a:ext cx="4206240" cy="59435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Expected Loss = PD × LGD × Loan Amount</a:t>
            </a:r>
            <a:br/>
            <a:r>
              <a:t>Interest rate is priced to cover expected loss and risk.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46520"/>
            <a:ext cx="5760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5C6773"/>
                </a:solidFill>
                <a:latin typeface="Aptos"/>
              </a:rPr>
              <a:t>AI in FinTech | Scorecard-Based Portfolio Optimisation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5C6773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29800" y="0"/>
            <a:ext cx="23591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3291AF"/>
                </a:solidFill>
                <a:latin typeface="Aptos"/>
              </a:rPr>
              <a:t>LIVE DASHBOARD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24128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16305A"/>
                </a:solidFill>
                <a:latin typeface="Aptos Display"/>
              </a:rPr>
              <a:t>What we will show after this slide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417320" cy="64008"/>
          </a:xfrm>
          <a:prstGeom prst="rect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29968" y="1536192"/>
            <a:ext cx="685800" cy="64008"/>
          </a:xfrm>
          <a:prstGeom prst="rect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3327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>
                <a:solidFill>
                  <a:srgbClr val="16305A"/>
                </a:solidFill>
                <a:latin typeface="Aptos"/>
              </a:rPr>
              <a:t>Now we open the dashboard to present the calculated outputs in an interactive 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606040"/>
            <a:ext cx="4617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234440" y="2834640"/>
            <a:ext cx="438912" cy="438912"/>
          </a:xfrm>
          <a:prstGeom prst="ellipse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2926080"/>
            <a:ext cx="43891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70632"/>
            <a:ext cx="3474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50" b="1">
                <a:solidFill>
                  <a:srgbClr val="16305A"/>
                </a:solidFill>
                <a:latin typeface="Aptos"/>
              </a:rPr>
              <a:t>Dataset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072384"/>
            <a:ext cx="35661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>
                <a:solidFill>
                  <a:srgbClr val="1E293B"/>
                </a:solidFill>
                <a:latin typeface="Aptos"/>
              </a:rPr>
              <a:t>Show the historical data and current portfolio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79" y="2606040"/>
            <a:ext cx="4617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83679" y="2834640"/>
            <a:ext cx="438912" cy="438912"/>
          </a:xfrm>
          <a:prstGeom prst="ellipse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79" y="2926080"/>
            <a:ext cx="43891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2770632"/>
            <a:ext cx="3474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50" b="1">
                <a:solidFill>
                  <a:srgbClr val="16305A"/>
                </a:solidFill>
                <a:latin typeface="Aptos"/>
              </a:rPr>
              <a:t>Model 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072384"/>
            <a:ext cx="35661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>
                <a:solidFill>
                  <a:srgbClr val="1E293B"/>
                </a:solidFill>
                <a:latin typeface="Aptos"/>
              </a:rPr>
              <a:t>Show WOE, score distribution, ROC/AUC, and PD visualization.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840480"/>
            <a:ext cx="4617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234440" y="4069080"/>
            <a:ext cx="438912" cy="438912"/>
          </a:xfrm>
          <a:prstGeom prst="ellipse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160520"/>
            <a:ext cx="43891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005072"/>
            <a:ext cx="3474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50" b="1">
                <a:solidFill>
                  <a:srgbClr val="16305A"/>
                </a:solidFill>
                <a:latin typeface="Aptos"/>
              </a:rPr>
              <a:t>Portfolio decision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306824"/>
            <a:ext cx="35661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>
                <a:solidFill>
                  <a:srgbClr val="1E293B"/>
                </a:solidFill>
                <a:latin typeface="Aptos"/>
              </a:rPr>
              <a:t>Show accepted and rejected clients using the optimal threshold.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79" y="3840480"/>
            <a:ext cx="4617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583679" y="4069080"/>
            <a:ext cx="438912" cy="438912"/>
          </a:xfrm>
          <a:prstGeom prst="ellipse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79" y="4160520"/>
            <a:ext cx="438912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005072"/>
            <a:ext cx="3474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50" b="1">
                <a:solidFill>
                  <a:srgbClr val="16305A"/>
                </a:solidFill>
                <a:latin typeface="Aptos"/>
              </a:rPr>
              <a:t>Pricing 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306824"/>
            <a:ext cx="356616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20" b="0">
                <a:solidFill>
                  <a:srgbClr val="1E293B"/>
                </a:solidFill>
                <a:latin typeface="Aptos"/>
              </a:rPr>
              <a:t>Show expected loss and minimum annual interest rate for selected clients.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623560"/>
            <a:ext cx="978408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600" b="1">
                <a:solidFill>
                  <a:srgbClr val="1E293B"/>
                </a:solidFill>
                <a:latin typeface="Aptos"/>
              </a:rPr>
              <a:t>Important: MATLAB is the calculation engine. The dashboard is the visualization and presentation layer.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5760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5C6773"/>
                </a:solidFill>
                <a:latin typeface="Aptos"/>
              </a:rPr>
              <a:t>AI in FinTech | Scorecard-Based Portfolio Optimisation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5C6773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829800" y="0"/>
            <a:ext cx="23591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7955279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3291AF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24128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800" b="1">
                <a:solidFill>
                  <a:srgbClr val="16305A"/>
                </a:solidFill>
                <a:latin typeface="Aptos Display"/>
              </a:rPr>
              <a:t>What the project achieves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36192"/>
            <a:ext cx="1417320" cy="64008"/>
          </a:xfrm>
          <a:prstGeom prst="rect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29968" y="1536192"/>
            <a:ext cx="685800" cy="64008"/>
          </a:xfrm>
          <a:prstGeom prst="rect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2514600"/>
          </a:xfrm>
          <a:prstGeom prst="rect">
            <a:avLst/>
          </a:prstGeom>
          <a:solidFill>
            <a:srgbClr val="16305A"/>
          </a:solidFill>
          <a:ln>
            <a:solidFill>
              <a:srgbClr val="163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30632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305A"/>
                </a:solidFill>
                <a:latin typeface="Aptos"/>
              </a:rPr>
              <a:t>Decision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77440"/>
            <a:ext cx="3063240" cy="1828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The project gives the bank a systematic way to accept or reject clients based on a scoring model instead of subjective judgment.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828800"/>
            <a:ext cx="338328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73152" cy="2514600"/>
          </a:xfrm>
          <a:prstGeom prst="rect">
            <a:avLst/>
          </a:prstGeom>
          <a:solidFill>
            <a:srgbClr val="3291AF"/>
          </a:solidFill>
          <a:ln>
            <a:solidFill>
              <a:srgbClr val="32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7" y="1993392"/>
            <a:ext cx="306324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305A"/>
                </a:solidFill>
                <a:latin typeface="Aptos"/>
              </a:rPr>
              <a:t>Risk measurement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377440"/>
            <a:ext cx="3063240" cy="1828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Each client receives a score and probability of default, making credit risk easier to compare across the portfolio.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0632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828800"/>
            <a:ext cx="73152" cy="2514600"/>
          </a:xfrm>
          <a:prstGeom prst="rect">
            <a:avLst/>
          </a:prstGeom>
          <a:solidFill>
            <a:srgbClr val="2A805D"/>
          </a:solidFill>
          <a:ln>
            <a:solidFill>
              <a:srgbClr val="2A80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9328" y="1993392"/>
            <a:ext cx="2743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305A"/>
                </a:solidFill>
                <a:latin typeface="Aptos"/>
              </a:rPr>
              <a:t>Risk-based pricing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377440"/>
            <a:ext cx="2743200" cy="1828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50" b="0">
                <a:solidFill>
                  <a:srgbClr val="1E293B"/>
                </a:solidFill>
                <a:latin typeface="Aptos"/>
              </a:rPr>
              <a:t>Accepted clients are priced using expected loss, recovery rate, and minimum interest rate logic.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83480"/>
            <a:ext cx="1005840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900" b="1">
                <a:solidFill>
                  <a:srgbClr val="16305A"/>
                </a:solidFill>
                <a:latin typeface="Aptos"/>
              </a:rPr>
              <a:t>Final message: the scorecard links machine learning, credit risk, and financial pricing into one practical portfolio optimisation workflow.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806440"/>
            <a:ext cx="813816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3291AF"/>
                </a:solidFill>
                <a:latin typeface="Aptos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46520"/>
            <a:ext cx="5760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850" b="0">
                <a:solidFill>
                  <a:srgbClr val="5C6773"/>
                </a:solidFill>
                <a:latin typeface="Aptos"/>
              </a:rPr>
              <a:t>AI in FinTech | Scorecard-Based Portfolio Optimisation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46520"/>
            <a:ext cx="5486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900" b="0">
                <a:solidFill>
                  <a:srgbClr val="5C6773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590</Words>
  <Application>Microsoft Office PowerPoint</Application>
  <PresentationFormat>Widescreen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HPI</dc:creator>
  <cp:keywords/>
  <dc:description>generated using python-pptx</dc:description>
  <cp:lastModifiedBy>Mhamad Naser Dine</cp:lastModifiedBy>
  <cp:revision>2</cp:revision>
  <dcterms:created xsi:type="dcterms:W3CDTF">2013-01-27T09:14:16Z</dcterms:created>
  <dcterms:modified xsi:type="dcterms:W3CDTF">2026-05-22T15:45:01Z</dcterms:modified>
  <cp:category/>
</cp:coreProperties>
</file>